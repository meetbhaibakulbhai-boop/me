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83" r:id="rId2"/>
    <p:sldId id="257" r:id="rId3"/>
    <p:sldId id="282" r:id="rId4"/>
    <p:sldId id="285" r:id="rId5"/>
    <p:sldId id="278" r:id="rId6"/>
    <p:sldId id="281" r:id="rId7"/>
    <p:sldId id="264" r:id="rId8"/>
    <p:sldId id="286" r:id="rId9"/>
    <p:sldId id="287" r:id="rId10"/>
    <p:sldId id="280" r:id="rId11"/>
    <p:sldId id="288" r:id="rId12"/>
    <p:sldId id="289" r:id="rId13"/>
    <p:sldId id="27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3A312C-F18D-4B05-926E-A552A5D80EDF}" v="19" dt="2026-08-01T14:57:46.17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33" Type="http://schemas.microsoft.com/office/2015/10/relationships/revisionInfo" Target="revisionInfo.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et Rathod" userId="6abe31d55bc5f5f2" providerId="LiveId" clId="{AC21BEB4-C653-4E81-9EB6-180424AEB39C}"/>
    <pc:docChg chg="undo custSel delSld modSld">
      <pc:chgData name="Meet Rathod" userId="6abe31d55bc5f5f2" providerId="LiveId" clId="{AC21BEB4-C653-4E81-9EB6-180424AEB39C}" dt="2026-08-01T14:57:46.176" v="218" actId="14826"/>
      <pc:docMkLst>
        <pc:docMk/>
      </pc:docMkLst>
      <pc:sldChg chg="delSp modSp mod">
        <pc:chgData name="Meet Rathod" userId="6abe31d55bc5f5f2" providerId="LiveId" clId="{AC21BEB4-C653-4E81-9EB6-180424AEB39C}" dt="2026-07-29T10:16:31.232" v="143" actId="478"/>
        <pc:sldMkLst>
          <pc:docMk/>
          <pc:sldMk cId="0" sldId="257"/>
        </pc:sldMkLst>
        <pc:spChg chg="mod">
          <ac:chgData name="Meet Rathod" userId="6abe31d55bc5f5f2" providerId="LiveId" clId="{AC21BEB4-C653-4E81-9EB6-180424AEB39C}" dt="2026-07-29T10:16:22.935" v="142" actId="255"/>
          <ac:spMkLst>
            <pc:docMk/>
            <pc:sldMk cId="0" sldId="257"/>
            <ac:spMk id="4" creationId="{A828B9EF-C084-F5D4-CA27-75AF7D995640}"/>
          </ac:spMkLst>
        </pc:spChg>
        <pc:spChg chg="mod">
          <ac:chgData name="Meet Rathod" userId="6abe31d55bc5f5f2" providerId="LiveId" clId="{AC21BEB4-C653-4E81-9EB6-180424AEB39C}" dt="2026-07-29T10:16:03.314" v="138" actId="255"/>
          <ac:spMkLst>
            <pc:docMk/>
            <pc:sldMk cId="0" sldId="257"/>
            <ac:spMk id="7" creationId="{3D723CA3-EC2D-165A-F109-3759C4E9C8A4}"/>
          </ac:spMkLst>
        </pc:spChg>
        <pc:graphicFrameChg chg="modGraphic">
          <ac:chgData name="Meet Rathod" userId="6abe31d55bc5f5f2" providerId="LiveId" clId="{AC21BEB4-C653-4E81-9EB6-180424AEB39C}" dt="2026-07-29T10:15:20.307" v="134" actId="20577"/>
          <ac:graphicFrameMkLst>
            <pc:docMk/>
            <pc:sldMk cId="0" sldId="257"/>
            <ac:graphicFrameMk id="96" creationId="{00000000-0000-0000-0000-000000000000}"/>
          </ac:graphicFrameMkLst>
        </pc:graphicFrameChg>
        <pc:picChg chg="mod">
          <ac:chgData name="Meet Rathod" userId="6abe31d55bc5f5f2" providerId="LiveId" clId="{AC21BEB4-C653-4E81-9EB6-180424AEB39C}" dt="2026-07-29T10:14:32.109" v="86" actId="1076"/>
          <ac:picMkLst>
            <pc:docMk/>
            <pc:sldMk cId="0" sldId="257"/>
            <ac:picMk id="98" creationId="{00000000-0000-0000-0000-000000000000}"/>
          </ac:picMkLst>
        </pc:picChg>
      </pc:sldChg>
      <pc:sldChg chg="del">
        <pc:chgData name="Meet Rathod" userId="6abe31d55bc5f5f2" providerId="LiveId" clId="{AC21BEB4-C653-4E81-9EB6-180424AEB39C}" dt="2026-08-01T14:33:24.932" v="199" actId="47"/>
        <pc:sldMkLst>
          <pc:docMk/>
          <pc:sldMk cId="0" sldId="262"/>
        </pc:sldMkLst>
      </pc:sldChg>
      <pc:sldChg chg="del">
        <pc:chgData name="Meet Rathod" userId="6abe31d55bc5f5f2" providerId="LiveId" clId="{AC21BEB4-C653-4E81-9EB6-180424AEB39C}" dt="2026-08-01T14:33:28.796" v="200" actId="47"/>
        <pc:sldMkLst>
          <pc:docMk/>
          <pc:sldMk cId="2115484872" sldId="277"/>
        </pc:sldMkLst>
      </pc:sldChg>
      <pc:sldChg chg="del">
        <pc:chgData name="Meet Rathod" userId="6abe31d55bc5f5f2" providerId="LiveId" clId="{AC21BEB4-C653-4E81-9EB6-180424AEB39C}" dt="2026-08-01T14:33:23.090" v="198" actId="47"/>
        <pc:sldMkLst>
          <pc:docMk/>
          <pc:sldMk cId="2772501912" sldId="279"/>
        </pc:sldMkLst>
      </pc:sldChg>
      <pc:sldChg chg="modSp mod">
        <pc:chgData name="Meet Rathod" userId="6abe31d55bc5f5f2" providerId="LiveId" clId="{AC21BEB4-C653-4E81-9EB6-180424AEB39C}" dt="2026-08-01T14:56:47.664" v="216" actId="5793"/>
        <pc:sldMkLst>
          <pc:docMk/>
          <pc:sldMk cId="2136706720" sldId="280"/>
        </pc:sldMkLst>
        <pc:spChg chg="mod">
          <ac:chgData name="Meet Rathod" userId="6abe31d55bc5f5f2" providerId="LiveId" clId="{AC21BEB4-C653-4E81-9EB6-180424AEB39C}" dt="2026-08-01T14:56:47.664" v="216" actId="5793"/>
          <ac:spMkLst>
            <pc:docMk/>
            <pc:sldMk cId="2136706720" sldId="280"/>
            <ac:spMk id="279" creationId="{EAFA16CB-0A72-5AC5-69A0-ABF4A752B43F}"/>
          </ac:spMkLst>
        </pc:spChg>
      </pc:sldChg>
      <pc:sldChg chg="modSp mod">
        <pc:chgData name="Meet Rathod" userId="6abe31d55bc5f5f2" providerId="LiveId" clId="{AC21BEB4-C653-4E81-9EB6-180424AEB39C}" dt="2026-08-01T14:48:48.307" v="206" actId="13926"/>
        <pc:sldMkLst>
          <pc:docMk/>
          <pc:sldMk cId="328526394" sldId="281"/>
        </pc:sldMkLst>
        <pc:spChg chg="mod">
          <ac:chgData name="Meet Rathod" userId="6abe31d55bc5f5f2" providerId="LiveId" clId="{AC21BEB4-C653-4E81-9EB6-180424AEB39C}" dt="2026-08-01T14:48:48.307" v="206" actId="13926"/>
          <ac:spMkLst>
            <pc:docMk/>
            <pc:sldMk cId="328526394" sldId="281"/>
            <ac:spMk id="2" creationId="{9BB86949-7ED1-C43B-B1E3-5122BB67A596}"/>
          </ac:spMkLst>
        </pc:spChg>
      </pc:sldChg>
      <pc:sldChg chg="modSp mod">
        <pc:chgData name="Meet Rathod" userId="6abe31d55bc5f5f2" providerId="LiveId" clId="{AC21BEB4-C653-4E81-9EB6-180424AEB39C}" dt="2026-08-01T14:23:02.423" v="192" actId="1076"/>
        <pc:sldMkLst>
          <pc:docMk/>
          <pc:sldMk cId="2952584201" sldId="282"/>
        </pc:sldMkLst>
        <pc:spChg chg="mod">
          <ac:chgData name="Meet Rathod" userId="6abe31d55bc5f5f2" providerId="LiveId" clId="{AC21BEB4-C653-4E81-9EB6-180424AEB39C}" dt="2026-08-01T14:22:54.903" v="191" actId="20577"/>
          <ac:spMkLst>
            <pc:docMk/>
            <pc:sldMk cId="2952584201" sldId="282"/>
            <ac:spMk id="2" creationId="{C6F6745E-14BA-0766-CE1E-32E29663832D}"/>
          </ac:spMkLst>
        </pc:spChg>
        <pc:spChg chg="mod">
          <ac:chgData name="Meet Rathod" userId="6abe31d55bc5f5f2" providerId="LiveId" clId="{AC21BEB4-C653-4E81-9EB6-180424AEB39C}" dt="2026-08-01T14:23:02.423" v="192" actId="1076"/>
          <ac:spMkLst>
            <pc:docMk/>
            <pc:sldMk cId="2952584201" sldId="282"/>
            <ac:spMk id="3" creationId="{3847FA31-EA47-D27A-9D69-AF50A3080AEC}"/>
          </ac:spMkLst>
        </pc:spChg>
      </pc:sldChg>
      <pc:sldChg chg="modSp mod">
        <pc:chgData name="Meet Rathod" userId="6abe31d55bc5f5f2" providerId="LiveId" clId="{AC21BEB4-C653-4E81-9EB6-180424AEB39C}" dt="2026-08-01T14:45:28.482" v="203" actId="1076"/>
        <pc:sldMkLst>
          <pc:docMk/>
          <pc:sldMk cId="2290294991" sldId="285"/>
        </pc:sldMkLst>
        <pc:spChg chg="mod">
          <ac:chgData name="Meet Rathod" userId="6abe31d55bc5f5f2" providerId="LiveId" clId="{AC21BEB4-C653-4E81-9EB6-180424AEB39C}" dt="2026-08-01T14:45:22.331" v="202" actId="1076"/>
          <ac:spMkLst>
            <pc:docMk/>
            <pc:sldMk cId="2290294991" sldId="285"/>
            <ac:spMk id="2" creationId="{4A1BF701-ABCA-4DF0-8330-B6AF71EF8E39}"/>
          </ac:spMkLst>
        </pc:spChg>
        <pc:spChg chg="mod">
          <ac:chgData name="Meet Rathod" userId="6abe31d55bc5f5f2" providerId="LiveId" clId="{AC21BEB4-C653-4E81-9EB6-180424AEB39C}" dt="2026-08-01T14:45:28.482" v="203" actId="1076"/>
          <ac:spMkLst>
            <pc:docMk/>
            <pc:sldMk cId="2290294991" sldId="285"/>
            <ac:spMk id="3" creationId="{527F30CC-07EF-8FCC-DA00-C9212F5DAECE}"/>
          </ac:spMkLst>
        </pc:spChg>
      </pc:sldChg>
      <pc:sldChg chg="modSp mod">
        <pc:chgData name="Meet Rathod" userId="6abe31d55bc5f5f2" providerId="LiveId" clId="{AC21BEB4-C653-4E81-9EB6-180424AEB39C}" dt="2026-08-01T14:54:19.843" v="212"/>
        <pc:sldMkLst>
          <pc:docMk/>
          <pc:sldMk cId="2605851928" sldId="287"/>
        </pc:sldMkLst>
        <pc:spChg chg="mod">
          <ac:chgData name="Meet Rathod" userId="6abe31d55bc5f5f2" providerId="LiveId" clId="{AC21BEB4-C653-4E81-9EB6-180424AEB39C}" dt="2026-08-01T14:54:19.843" v="212"/>
          <ac:spMkLst>
            <pc:docMk/>
            <pc:sldMk cId="2605851928" sldId="287"/>
            <ac:spMk id="279" creationId="{3711AF54-94A6-B837-31EF-9A8C4ECB9AF6}"/>
          </ac:spMkLst>
        </pc:spChg>
      </pc:sldChg>
      <pc:sldChg chg="modSp">
        <pc:chgData name="Meet Rathod" userId="6abe31d55bc5f5f2" providerId="LiveId" clId="{AC21BEB4-C653-4E81-9EB6-180424AEB39C}" dt="2026-08-01T14:57:18.991" v="217" actId="14826"/>
        <pc:sldMkLst>
          <pc:docMk/>
          <pc:sldMk cId="1229047658" sldId="288"/>
        </pc:sldMkLst>
        <pc:picChg chg="mod">
          <ac:chgData name="Meet Rathod" userId="6abe31d55bc5f5f2" providerId="LiveId" clId="{AC21BEB4-C653-4E81-9EB6-180424AEB39C}" dt="2026-08-01T14:57:18.991" v="217" actId="14826"/>
          <ac:picMkLst>
            <pc:docMk/>
            <pc:sldMk cId="1229047658" sldId="288"/>
            <ac:picMk id="4" creationId="{A037CFD0-B7FF-D9BE-3433-88E5844EF332}"/>
          </ac:picMkLst>
        </pc:picChg>
      </pc:sldChg>
      <pc:sldChg chg="modSp">
        <pc:chgData name="Meet Rathod" userId="6abe31d55bc5f5f2" providerId="LiveId" clId="{AC21BEB4-C653-4E81-9EB6-180424AEB39C}" dt="2026-08-01T14:57:46.176" v="218" actId="14826"/>
        <pc:sldMkLst>
          <pc:docMk/>
          <pc:sldMk cId="2506610743" sldId="289"/>
        </pc:sldMkLst>
        <pc:picChg chg="mod">
          <ac:chgData name="Meet Rathod" userId="6abe31d55bc5f5f2" providerId="LiveId" clId="{AC21BEB4-C653-4E81-9EB6-180424AEB39C}" dt="2026-08-01T14:57:46.176" v="218" actId="14826"/>
          <ac:picMkLst>
            <pc:docMk/>
            <pc:sldMk cId="2506610743" sldId="289"/>
            <ac:picMk id="4" creationId="{099C3698-991D-7A38-C456-893C84C23F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099952328"/>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Meet Rathod</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meetbhaibakulbhai@gmail.com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8401363841</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alphaModFix/>
          </a:blip>
          <a:srcRect/>
          <a:stretch/>
        </p:blipFill>
        <p:spPr>
          <a:xfrm>
            <a:off x="4159046" y="3731431"/>
            <a:ext cx="816076"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523220"/>
          </a:xfrm>
          <a:prstGeom prst="rect">
            <a:avLst/>
          </a:prstGeom>
          <a:noFill/>
        </p:spPr>
        <p:txBody>
          <a:bodyPr wrap="square" rtlCol="0">
            <a:spAutoFit/>
          </a:bodyPr>
          <a:lstStyle/>
          <a:p>
            <a:r>
              <a:rPr lang="en-US" sz="2800" b="1" dirty="0"/>
              <a:t>Domain of  Project </a:t>
            </a:r>
            <a:r>
              <a:rPr lang="en-US" sz="2400" b="1" dirty="0"/>
              <a:t>–  </a:t>
            </a:r>
            <a:r>
              <a:rPr lang="en-US" sz="2000" b="1" dirty="0"/>
              <a:t>Economic Development </a:t>
            </a:r>
            <a:endParaRPr lang="en-IN" sz="20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523220"/>
          </a:xfrm>
          <a:prstGeom prst="rect">
            <a:avLst/>
          </a:prstGeom>
          <a:noFill/>
        </p:spPr>
        <p:txBody>
          <a:bodyPr wrap="square" rtlCol="0">
            <a:spAutoFit/>
          </a:bodyPr>
          <a:lstStyle/>
          <a:p>
            <a:r>
              <a:rPr lang="en-US" sz="2800" b="1" dirty="0"/>
              <a:t>Project Tile </a:t>
            </a:r>
            <a:r>
              <a:rPr lang="en-US" sz="2400" b="1" dirty="0"/>
              <a:t>– </a:t>
            </a:r>
            <a:r>
              <a:rPr lang="en-IN" sz="2000" b="1" dirty="0" err="1"/>
              <a:t>AmulyaDhara</a:t>
            </a:r>
            <a:r>
              <a:rPr lang="en-IN" sz="2000" b="1" dirty="0"/>
              <a:t> AI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3754874"/>
          </a:xfrm>
          <a:prstGeom prst="rect">
            <a:avLst/>
          </a:prstGeom>
          <a:noFill/>
        </p:spPr>
        <p:txBody>
          <a:bodyPr wrap="square" rtlCol="0">
            <a:spAutoFit/>
          </a:bodyPr>
          <a:lstStyle/>
          <a:p>
            <a:pPr fontAlgn="base"/>
            <a:endParaRPr lang="en-US" b="1" dirty="0"/>
          </a:p>
          <a:p>
            <a:pPr fontAlgn="base"/>
            <a:endParaRPr lang="en-US" b="1" dirty="0"/>
          </a:p>
          <a:p>
            <a:pPr fontAlgn="base"/>
            <a:r>
              <a:rPr lang="en-US" b="1" dirty="0"/>
              <a:t>The Challenge</a:t>
            </a:r>
            <a:r>
              <a:rPr lang="en-US" dirty="0"/>
              <a:t> </a:t>
            </a:r>
          </a:p>
          <a:p>
            <a:pPr fontAlgn="base"/>
            <a:r>
              <a:rPr lang="en-US" dirty="0"/>
              <a:t>Gujarat's dairy cooperatives (Amul model) face challenges in milk collection route efficiency, fodder cost volatility, and matching milk supply with fluctuating demand, impacting profitability for millions of dairy farmers. </a:t>
            </a:r>
          </a:p>
          <a:p>
            <a:pPr fontAlgn="base"/>
            <a:endParaRPr lang="en-US" dirty="0"/>
          </a:p>
          <a:p>
            <a:pPr fontAlgn="base"/>
            <a:r>
              <a:rPr lang="en-US" b="1" dirty="0"/>
              <a:t>The Objective</a:t>
            </a:r>
            <a:r>
              <a:rPr lang="en-US" dirty="0"/>
              <a:t> </a:t>
            </a:r>
          </a:p>
          <a:p>
            <a:pPr fontAlgn="base"/>
            <a:r>
              <a:rPr lang="en-US" dirty="0"/>
              <a:t>Develop Agentic AI solutions that optimize milk collection logistics, forecast fodder prices, and align production planning with cooperative and market demand. </a:t>
            </a:r>
          </a:p>
          <a:p>
            <a:pPr fontAlgn="base"/>
            <a:endParaRPr lang="en-US" dirty="0"/>
          </a:p>
          <a:p>
            <a:pPr fontAlgn="base"/>
            <a:r>
              <a:rPr lang="en-US" b="1" dirty="0"/>
              <a:t>Suggested AI Agents</a:t>
            </a:r>
          </a:p>
          <a:p>
            <a:pPr fontAlgn="base"/>
            <a:r>
              <a:rPr lang="en-US" dirty="0"/>
              <a:t> • Milk Collection Route Optimization Agent</a:t>
            </a:r>
          </a:p>
          <a:p>
            <a:pPr fontAlgn="base"/>
            <a:r>
              <a:rPr lang="en-US" dirty="0"/>
              <a:t> • Fodder Price Forecasting Agent</a:t>
            </a:r>
          </a:p>
          <a:p>
            <a:pPr fontAlgn="base"/>
            <a:r>
              <a:rPr lang="en-US" dirty="0"/>
              <a:t> • Demand-Supply Matching Agent </a:t>
            </a:r>
          </a:p>
          <a:p>
            <a:pPr fontAlgn="base"/>
            <a:r>
              <a:rPr lang="en-US" dirty="0"/>
              <a:t>• Farmer Payment &amp; Transparency Agent </a:t>
            </a:r>
          </a:p>
          <a:p>
            <a:pPr fontAlgn="base"/>
            <a:r>
              <a:rPr lang="en-US" dirty="0"/>
              <a:t>• Cooperative Performance Dashboard Agent </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348996" y="598516"/>
            <a:ext cx="11494008" cy="830997"/>
          </a:xfrm>
          <a:prstGeom prst="rect">
            <a:avLst/>
          </a:prstGeom>
          <a:noFill/>
        </p:spPr>
        <p:txBody>
          <a:bodyPr wrap="square" rtlCol="0">
            <a:spAutoFit/>
          </a:bodyPr>
          <a:lstStyle/>
          <a:p>
            <a:r>
              <a:rPr lang="en-US" sz="2400" b="1" dirty="0"/>
              <a:t>Problem Statement - : AI-Based Dairy Cooperative Supply Chain Optimization Platform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633451"/>
            <a:ext cx="10607040" cy="4185761"/>
          </a:xfrm>
          <a:prstGeom prst="rect">
            <a:avLst/>
          </a:prstGeom>
          <a:noFill/>
        </p:spPr>
        <p:txBody>
          <a:bodyPr wrap="square" rtlCol="0">
            <a:spAutoFit/>
          </a:bodyPr>
          <a:lstStyle/>
          <a:p>
            <a:pPr fontAlgn="base"/>
            <a:endParaRPr lang="en-US" b="1" dirty="0"/>
          </a:p>
          <a:p>
            <a:r>
              <a:rPr lang="en-IN" dirty="0"/>
              <a:t>This proposed solution is a multi-agent AI platform built using </a:t>
            </a:r>
            <a:r>
              <a:rPr lang="en-IN" dirty="0" err="1"/>
              <a:t>LangFlow</a:t>
            </a:r>
            <a:r>
              <a:rPr lang="en-IN" dirty="0"/>
              <a:t>, IBM watsonx.ai, and Granite Models to deliver optimized logistics and real-time inventory management. It effectively tackles industry challenges like milk spoilage, route inefficiencies, and demand forecasting through an intelligent, modular architecture.</a:t>
            </a:r>
          </a:p>
          <a:p>
            <a:r>
              <a:rPr lang="en-IN" dirty="0"/>
              <a:t>A Retrieval-Augmented Generation pipeline fetches accurate market, cooperative, and environmental data. Stored securely in a vector database, this enables the system to rapidly retrieve and summarize critical logistical details, such as weather impacts and traffic patterns, using Granite models.</a:t>
            </a:r>
          </a:p>
          <a:p>
            <a:r>
              <a:rPr lang="en-IN" dirty="0"/>
              <a:t>The system relies on four agents:</a:t>
            </a:r>
          </a:p>
          <a:p>
            <a:pPr lvl="0"/>
            <a:r>
              <a:rPr lang="en-IN" b="1" dirty="0"/>
              <a:t>Demand Forecasting Agent</a:t>
            </a:r>
            <a:r>
              <a:rPr lang="en-IN" dirty="0"/>
              <a:t> prevents shortages by predicting supply variations using historical trends.</a:t>
            </a:r>
          </a:p>
          <a:p>
            <a:pPr lvl="0"/>
            <a:r>
              <a:rPr lang="en-IN" b="1" dirty="0"/>
              <a:t>Route Optimization Agent</a:t>
            </a:r>
            <a:r>
              <a:rPr lang="en-IN" dirty="0"/>
              <a:t> creates dynamic, cost-effective distribution routes to minimize fuel consumption.</a:t>
            </a:r>
          </a:p>
          <a:p>
            <a:pPr lvl="0"/>
            <a:r>
              <a:rPr lang="en-IN" b="1" dirty="0"/>
              <a:t>Inventory Quality Agent</a:t>
            </a:r>
            <a:r>
              <a:rPr lang="en-IN" dirty="0"/>
              <a:t> monitors perishable milk, providing preventive spoilage alerts.</a:t>
            </a:r>
          </a:p>
          <a:p>
            <a:pPr lvl="0"/>
            <a:r>
              <a:rPr lang="en-IN" b="1" dirty="0"/>
              <a:t>Farmer Communication Agent</a:t>
            </a:r>
            <a:r>
              <a:rPr lang="en-IN" dirty="0"/>
              <a:t> enables voice or text yield logging and delivers schedule updates instantly.</a:t>
            </a:r>
          </a:p>
          <a:p>
            <a:r>
              <a:rPr lang="en-IN" dirty="0"/>
              <a:t>A </a:t>
            </a:r>
            <a:r>
              <a:rPr lang="en-IN" dirty="0" err="1"/>
              <a:t>Streamlit</a:t>
            </a:r>
            <a:r>
              <a:rPr lang="en-IN" dirty="0"/>
              <a:t> dashboard clearly visualizes daily collection metrics and closely tracks waste-reduction progress. </a:t>
            </a:r>
            <a:r>
              <a:rPr lang="en-IN" dirty="0" err="1"/>
              <a:t>LangFlow</a:t>
            </a:r>
            <a:r>
              <a:rPr lang="en-IN" dirty="0"/>
              <a:t> orchestrates all workflows, watsonx.ai ensures scalable deployment and strict governance, while Granite models power automated decision-making.</a:t>
            </a:r>
          </a:p>
          <a:p>
            <a:r>
              <a:rPr lang="en-IN" dirty="0"/>
              <a:t>Overall, this intelligent assistant promotes highly sustainable dairy operations through predictive insights, efficient routing, and exceptional inventory control, ultimately maximizing both cooperative profitability and long-term success.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433122"/>
            <a:ext cx="11039856" cy="1200329"/>
          </a:xfrm>
          <a:prstGeom prst="rect">
            <a:avLst/>
          </a:prstGeom>
          <a:noFill/>
        </p:spPr>
        <p:txBody>
          <a:bodyPr wrap="square" rtlCol="0">
            <a:spAutoFit/>
          </a:bodyPr>
          <a:lstStyle/>
          <a:p>
            <a:r>
              <a:rPr lang="en-US" sz="2400" b="1" dirty="0"/>
              <a:t>Proposed Solution -  </a:t>
            </a:r>
            <a:r>
              <a:rPr lang="en-IN" sz="2400" dirty="0"/>
              <a:t>"Developing an AI-driven platform to optimize dairy cooperative supply chains, significantly reducing milk spoilage and operational costs."</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dirty="0"/>
              <a:t>IBM Granite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a:t>
            </a:r>
            <a:r>
              <a:rPr lang="en-US" sz="1800"/>
              <a:t>– It provides the infrastructure to build, deploy, and scale the Nutrition Agent efficiently. IBM Cloud enables a </a:t>
            </a:r>
            <a:r>
              <a:rPr lang="en-US" sz="1800" b="1"/>
              <a:t>reliable, secure, and scalable environment</a:t>
            </a:r>
            <a:r>
              <a:rPr lang="en-US" sz="1800"/>
              <a:t> for deploying the Nutrition Agent.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a:t>
            </a:r>
            <a:r>
              <a:rPr lang="en-US" sz="1800"/>
              <a:t>RAG to </a:t>
            </a:r>
            <a:r>
              <a:rPr lang="en-US" sz="1800" b="1"/>
              <a:t>fetch real data first, then generate intelligent answers</a:t>
            </a:r>
            <a:r>
              <a:rPr lang="en-US" sz="1800"/>
              <a:t>, making the Nutrition Agent more trustworthy and effective.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Watsonx.ai - </a:t>
            </a:r>
            <a:r>
              <a:rPr lang="en-US" sz="1800"/>
              <a:t>For model deployment, embeddings, and AI governance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Vector Database </a:t>
            </a:r>
            <a:r>
              <a:rPr lang="en-IN" sz="1800"/>
              <a:t>(FAISS/Chroma) – For RAG-based nutritional data retrieval</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047536"/>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r>
              <a:rPr lang="en-US" b="1" dirty="0"/>
              <a:t>5) File component - </a:t>
            </a:r>
            <a:r>
              <a:rPr lang="en-US" dirty="0"/>
              <a:t>Stores and retrieves user data, meal logs, and nutritional datasets for analysis and tracking.</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Nutrition Agent</a:t>
            </a:r>
          </a:p>
          <a:p>
            <a:r>
              <a:rPr lang="en-US" b="1"/>
              <a:t>Agentic AI</a:t>
            </a:r>
            <a:r>
              <a:rPr lang="en-US"/>
              <a:t> enables the Nutrition Agent to function as an intelligent, autonomous system rather than a simple chatbot. Using </a:t>
            </a:r>
            <a:r>
              <a:rPr lang="en-US" b="1"/>
              <a:t>IBM watsonx.ai</a:t>
            </a:r>
            <a:r>
              <a:rPr lang="en-US"/>
              <a:t> and </a:t>
            </a:r>
            <a:r>
              <a:rPr lang="en-US" b="1"/>
              <a:t>IBM Granite models</a:t>
            </a:r>
            <a:r>
              <a:rPr lang="en-US"/>
              <a:t>, it coordinates multiple specialized agents to deliver personalized nutrition guidance.</a:t>
            </a:r>
          </a:p>
          <a:p>
            <a:r>
              <a:rPr lang="en-US"/>
              <a:t>Each agent performs a specific role—such as retrieving nutritional data, generating diet plans, providing health advice, and analyzing food logs—while working collaboratively. This </a:t>
            </a:r>
            <a:r>
              <a:rPr lang="en-US" b="1"/>
              <a:t>multi-agent approach</a:t>
            </a:r>
            <a:r>
              <a:rPr lang="en-US"/>
              <a:t> ensures efficient task execution and accurate results.</a:t>
            </a:r>
          </a:p>
          <a:p>
            <a:r>
              <a:rPr lang="en-US"/>
              <a:t>Agentic AI also brings </a:t>
            </a:r>
            <a:r>
              <a:rPr lang="en-US" b="1"/>
              <a:t>context awareness</a:t>
            </a:r>
            <a:r>
              <a:rPr lang="en-US"/>
              <a:t>, understanding user details like age, health conditions, and fitness goals to generate tailored recommendations. It supports </a:t>
            </a:r>
            <a:r>
              <a:rPr lang="en-US" b="1"/>
              <a:t>real-time adaptation</a:t>
            </a:r>
            <a:r>
              <a:rPr lang="en-US"/>
              <a:t>, continuously updating suggestions based on user inputs like daily meals.</a:t>
            </a:r>
          </a:p>
          <a:p>
            <a:r>
              <a:rPr lang="en-US"/>
              <a:t>Additionally, agents communicate with each other, enabling better decision-making and improved outcomes.</a:t>
            </a:r>
          </a:p>
          <a:p>
            <a:r>
              <a:rPr lang="en-US"/>
              <a:t>Overall, Agentic AI makes the system proactive, personalized, and goal-driven, acting like a </a:t>
            </a:r>
            <a:r>
              <a:rPr lang="en-US" b="1"/>
              <a:t>smart digital nutritionist</a:t>
            </a:r>
            <a:r>
              <a:rPr lang="en-US"/>
              <a:t> that helps users maintain a healthy lifestyle.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Nutrition Agent stands out by combining </a:t>
            </a:r>
            <a:r>
              <a:rPr lang="en-IN" sz="1800" b="1"/>
              <a:t>Agentic AI, RAG, and personalization</a:t>
            </a:r>
            <a:r>
              <a:rPr lang="en-IN" sz="1800"/>
              <a:t> into a single intelligent system.</a:t>
            </a:r>
          </a:p>
          <a:p>
            <a:endParaRPr lang="en-IN" sz="1800"/>
          </a:p>
          <a:p>
            <a:r>
              <a:rPr lang="en-IN" sz="1800" b="1"/>
              <a:t>Multi-Agent Intelligence</a:t>
            </a:r>
            <a:r>
              <a:rPr lang="en-IN" sz="1800"/>
              <a:t> – Instead of a single chatbot, multiple specialized agents collaborate to deliver accurate and context-aware nutrition guidance. </a:t>
            </a:r>
          </a:p>
          <a:p>
            <a:r>
              <a:rPr lang="en-IN" sz="1800" b="1"/>
              <a:t>RAG-Based Accuracy</a:t>
            </a:r>
            <a:r>
              <a:rPr lang="en-IN" sz="1800"/>
              <a:t> – Integrates real-time data retrieval with AI generation, reducing misinformation and ensuring trustworthy recommendations. </a:t>
            </a:r>
          </a:p>
          <a:p>
            <a:r>
              <a:rPr lang="en-IN" sz="1800" b="1"/>
              <a:t>Hyper-Personalization</a:t>
            </a:r>
            <a:r>
              <a:rPr lang="en-IN" sz="1800"/>
              <a:t> – Tailors diet plans based on health conditions, cultural preferences, and fitness goals. </a:t>
            </a:r>
          </a:p>
          <a:p>
            <a:r>
              <a:rPr lang="en-IN" sz="1800" b="1"/>
              <a:t>Real-Time Feedback Loop</a:t>
            </a:r>
            <a:r>
              <a:rPr lang="en-IN" sz="1800"/>
              <a:t> – Continuously adapts recommendations based on daily food logs and user </a:t>
            </a:r>
            <a:r>
              <a:rPr lang="en-IN" sz="1800" err="1"/>
              <a:t>behavior</a:t>
            </a:r>
            <a:r>
              <a:rPr lang="en-IN" sz="1800"/>
              <a:t>. </a:t>
            </a:r>
          </a:p>
          <a:p>
            <a:r>
              <a:rPr lang="en-IN" sz="1800" b="1"/>
              <a:t>Multi-Modal Input</a:t>
            </a:r>
            <a:r>
              <a:rPr lang="en-IN" sz="1800"/>
              <a:t> – Supports text, voice, and image-based meal tracking for better usability. </a:t>
            </a:r>
          </a:p>
          <a:p>
            <a:r>
              <a:rPr lang="en-IN" sz="1800" b="1"/>
              <a:t>Preventive Healthcare Focus</a:t>
            </a:r>
            <a:r>
              <a:rPr lang="en-IN" sz="1800"/>
              <a:t> – Goes beyond diet planning to provide disease-specific nutrition advice. </a:t>
            </a:r>
          </a:p>
          <a:p>
            <a:r>
              <a:rPr lang="en-IN" sz="1800" b="1"/>
              <a:t>Scalable &amp; Enterprise-Ready</a:t>
            </a:r>
            <a:r>
              <a:rPr lang="en-IN" sz="1800"/>
              <a:t> – Built on </a:t>
            </a:r>
            <a:r>
              <a:rPr lang="en-IN" sz="1800" b="1"/>
              <a:t>IBM watsonx.ai</a:t>
            </a:r>
            <a:r>
              <a:rPr lang="en-IN" sz="1800"/>
              <a:t> with </a:t>
            </a:r>
            <a:r>
              <a:rPr lang="en-IN" sz="1800" b="1"/>
              <a:t>IBM Granite models</a:t>
            </a:r>
            <a:r>
              <a:rPr lang="en-IN" sz="1800"/>
              <a:t>, ensuring reliability and governance. </a:t>
            </a:r>
          </a:p>
          <a:p>
            <a:endParaRPr lang="en-IN" sz="1800"/>
          </a:p>
          <a:p>
            <a:r>
              <a:rPr lang="en-IN" sz="1800"/>
              <a:t>This makes the solution a </a:t>
            </a:r>
            <a:r>
              <a:rPr lang="en-IN" sz="1800" b="1"/>
              <a:t>smart, adaptive, and proactive digital nutritionist</a:t>
            </a:r>
            <a:r>
              <a:rPr lang="en-IN" sz="1800"/>
              <a:t>, not just a static diet recommendation tool.</a:t>
            </a:r>
            <a:endParaRPr lang="en-US"/>
          </a:p>
          <a:p>
            <a:endParaRPr lang="en-IN"/>
          </a:p>
        </p:txBody>
      </p:sp>
    </p:spTree>
    <p:extLst>
      <p:ext uri="{BB962C8B-B14F-4D97-AF65-F5344CB8AC3E}">
        <p14:creationId xmlns:p14="http://schemas.microsoft.com/office/powerpoint/2010/main" val="917964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1850" dirty="0">
                <a:latin typeface="Times New Roman"/>
                <a:ea typeface="Times New Roman"/>
                <a:cs typeface="Times New Roman"/>
                <a:sym typeface="Times New Roman"/>
              </a:rPr>
              <a:t>GITHUB REPOSITORY LINK :- https://github.com/meetbhaibakulbhai-boop/me</a:t>
            </a:r>
          </a:p>
          <a:p>
            <a:pPr lvl="0">
              <a:lnSpc>
                <a:spcPct val="162162"/>
              </a:lnSpc>
              <a:buClr>
                <a:srgbClr val="2B3541"/>
              </a:buClr>
              <a:buSzPts val="1850"/>
            </a:pPr>
            <a:r>
              <a:rPr lang="en-IN" sz="1850" dirty="0">
                <a:latin typeface="Times New Roman"/>
                <a:ea typeface="Times New Roman"/>
                <a:cs typeface="Times New Roman"/>
                <a:sym typeface="Times New Roman"/>
              </a:rPr>
              <a:t>GITHUB UPLOADED WEBSITE LINK:- https://meetbhaibakulbhai-boop.github.io/me/</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457200" indent="-457200">
              <a:buAutoNum type="arabicPeriod"/>
            </a:pPr>
            <a:r>
              <a:rPr lang="en-IN" sz="2000" b="1" dirty="0"/>
              <a:t>Integration with IoT &amp; Sensor Networks –</a:t>
            </a:r>
            <a:r>
              <a:rPr lang="en-IN" sz="2000" dirty="0"/>
              <a:t> The system can be expanded with a wider network of AI-enabled IoT temperature sensors, GPS trackers, and smart scales across dairy cooperative boundaries. This will enable more accurate, real-time tracking of milk quality and transport vehicles across a larger area, improving early detection of spoilage risks and logistical delays.</a:t>
            </a:r>
          </a:p>
          <a:p>
            <a:endParaRPr lang="en-IN" sz="2000" dirty="0"/>
          </a:p>
          <a:p>
            <a:r>
              <a:rPr lang="en-IN" sz="2000" b="1" dirty="0"/>
              <a:t>2. Multilingual Voice-Based Alerts –</a:t>
            </a:r>
            <a:r>
              <a:rPr lang="en-IN" sz="2000" dirty="0"/>
              <a:t> Adding voice-enabled, multilingual alert delivery (Gujarati, Hindi, English) will make system notifications more accessible to dairy farmers, especially in rural areas with low literacy or limited smartphone access, ensuring faster responses to collection schedules and pricing updates.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4" name="Picture 3">
            <a:extLst>
              <a:ext uri="{FF2B5EF4-FFF2-40B4-BE49-F238E27FC236}">
                <a16:creationId xmlns:a16="http://schemas.microsoft.com/office/drawing/2014/main" id="{A037CFD0-B7FF-D9BE-3433-88E5844EF332}"/>
              </a:ext>
            </a:extLst>
          </p:cNvPr>
          <p:cNvPicPr>
            <a:picLocks noChangeAspect="1"/>
          </p:cNvPicPr>
          <p:nvPr/>
        </p:nvPicPr>
        <p:blipFill>
          <a:blip r:embed="rId2"/>
          <a:srcRect/>
          <a:stretch/>
        </p:blipFill>
        <p:spPr>
          <a:xfrm>
            <a:off x="2335728" y="1223163"/>
            <a:ext cx="7075219" cy="5288466"/>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9C3698-991D-7A38-C456-893C84C23FC9}"/>
              </a:ext>
            </a:extLst>
          </p:cNvPr>
          <p:cNvPicPr>
            <a:picLocks noChangeAspect="1"/>
          </p:cNvPicPr>
          <p:nvPr/>
        </p:nvPicPr>
        <p:blipFill>
          <a:blip r:embed="rId2"/>
          <a:srcRect l="2796" r="2796"/>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spTree>
    <p:extLst>
      <p:ext uri="{BB962C8B-B14F-4D97-AF65-F5344CB8AC3E}">
        <p14:creationId xmlns:p14="http://schemas.microsoft.com/office/powerpoint/2010/main" val="2506610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TotalTime>
  <Words>1145</Words>
  <Application>Microsoft Office PowerPoint</Application>
  <PresentationFormat>Widescreen</PresentationFormat>
  <Paragraphs>110</Paragraphs>
  <Slides>13</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Meet Rathod</cp:lastModifiedBy>
  <cp:revision>15</cp:revision>
  <dcterms:created xsi:type="dcterms:W3CDTF">2025-07-08T05:06:56Z</dcterms:created>
  <dcterms:modified xsi:type="dcterms:W3CDTF">2026-08-01T15:00:08Z</dcterms:modified>
</cp:coreProperties>
</file>